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7" r:id="rId6"/>
    <p:sldId id="268" r:id="rId7"/>
    <p:sldId id="269" r:id="rId8"/>
    <p:sldId id="270" r:id="rId9"/>
    <p:sldId id="265" r:id="rId10"/>
  </p:sldIdLst>
  <p:sldSz cx="18288000" cy="10287000"/>
  <p:notesSz cx="6858000" cy="9144000"/>
  <p:embeddedFontLst>
    <p:embeddedFont>
      <p:font typeface="Century Gothic Paneuropean" panose="020B0604020202020204" charset="0"/>
      <p:regular r:id="rId11"/>
    </p:embeddedFont>
    <p:embeddedFont>
      <p:font typeface="Century Gothic Paneuropean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2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34754" y="3297377"/>
            <a:ext cx="13018493" cy="2127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89"/>
              </a:lnSpc>
            </a:pPr>
            <a:r>
              <a:rPr lang="en-US" sz="12492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PRESENTATION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882925" y="5559892"/>
            <a:ext cx="8522150" cy="1058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2"/>
              </a:lnSpc>
            </a:pPr>
            <a:r>
              <a:rPr lang="en-US" sz="6173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Ganesh Agrahari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C5F3F64-4BA2-4D0C-5168-8FAA35709578}"/>
              </a:ext>
            </a:extLst>
          </p:cNvPr>
          <p:cNvSpPr txBox="1"/>
          <p:nvPr/>
        </p:nvSpPr>
        <p:spPr>
          <a:xfrm>
            <a:off x="2133600" y="800100"/>
            <a:ext cx="126367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🎯 Project Brief: AI Healthcare Chatbot for our site</a:t>
            </a:r>
            <a:endParaRPr lang="en-IN" sz="3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1F584B-F117-7F2F-5F86-AB35031B11A1}"/>
              </a:ext>
            </a:extLst>
          </p:cNvPr>
          <p:cNvSpPr txBox="1"/>
          <p:nvPr/>
        </p:nvSpPr>
        <p:spPr>
          <a:xfrm>
            <a:off x="2362200" y="2798206"/>
            <a:ext cx="12636708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✅ Phase 1: Chatbot Built with </a:t>
            </a:r>
            <a:r>
              <a:rPr lang="en-IN" sz="3200" b="1" dirty="0" err="1"/>
              <a:t>Botpress</a:t>
            </a:r>
            <a:r>
              <a:rPr lang="en-IN" sz="3200" b="1" dirty="0"/>
              <a:t> (Free Plan)</a:t>
            </a:r>
          </a:p>
          <a:p>
            <a:pPr>
              <a:buNone/>
            </a:pPr>
            <a:endParaRPr lang="en-IN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3200" b="1" dirty="0"/>
              <a:t>Tools Used</a:t>
            </a:r>
            <a:r>
              <a:rPr lang="en-IN" sz="3200" dirty="0"/>
              <a:t>: </a:t>
            </a:r>
            <a:r>
              <a:rPr lang="en-IN" sz="3200" dirty="0" err="1"/>
              <a:t>Botpress</a:t>
            </a:r>
            <a:r>
              <a:rPr lang="en-IN" sz="3200" dirty="0"/>
              <a:t> Studio (Visual Builder, NLP)</a:t>
            </a:r>
          </a:p>
          <a:p>
            <a:endParaRPr lang="en-IN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3200" b="1" dirty="0"/>
              <a:t>Current Capability</a:t>
            </a:r>
            <a:r>
              <a:rPr lang="en-IN" sz="3200" dirty="0"/>
              <a:t>: Symptom-based health guidance using predefined flows and small-scale </a:t>
            </a:r>
            <a:r>
              <a:rPr lang="en-IN" sz="3200" dirty="0" err="1"/>
              <a:t>QnA</a:t>
            </a:r>
            <a:endParaRPr lang="en-IN" sz="3200" dirty="0"/>
          </a:p>
          <a:p>
            <a:endParaRPr lang="en-IN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3200" b="1" dirty="0"/>
              <a:t>Database Input</a:t>
            </a:r>
            <a:r>
              <a:rPr lang="en-IN" sz="3200" dirty="0"/>
              <a:t>: Attempted to integrate CSV for symptom analysis (e.g., Asthma)</a:t>
            </a:r>
          </a:p>
          <a:p>
            <a:endParaRPr lang="en-IN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❌ </a:t>
            </a:r>
            <a:r>
              <a:rPr lang="en-IN" sz="3200" b="1" dirty="0"/>
              <a:t>Issue</a:t>
            </a:r>
            <a:r>
              <a:rPr lang="en-IN" sz="3200" dirty="0"/>
              <a:t>: Could not add CSV data due to </a:t>
            </a:r>
            <a:r>
              <a:rPr lang="en-IN" sz="3200" b="1" dirty="0"/>
              <a:t>free plan storage limit exceeded</a:t>
            </a:r>
            <a:endParaRPr lang="en-IN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FBCBBE0F-BEAD-6445-7555-7F65E63F6A81}"/>
              </a:ext>
            </a:extLst>
          </p:cNvPr>
          <p:cNvSpPr txBox="1"/>
          <p:nvPr/>
        </p:nvSpPr>
        <p:spPr>
          <a:xfrm>
            <a:off x="1828800" y="876300"/>
            <a:ext cx="126367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❗ Challenge: </a:t>
            </a:r>
            <a:r>
              <a:rPr lang="en-IN" sz="3600" dirty="0"/>
              <a:t>Agentic</a:t>
            </a:r>
            <a:r>
              <a:rPr lang="en-IN" sz="3200" dirty="0"/>
              <a:t> AI </a:t>
            </a:r>
            <a:r>
              <a:rPr lang="en-IN" sz="3600" dirty="0"/>
              <a:t>Capabilities</a:t>
            </a:r>
            <a:endParaRPr lang="en-IN" sz="3200" dirty="0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83DA4455-B3B2-1F5D-A58B-9E79D4B81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5043" y="2038947"/>
            <a:ext cx="1642295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“Can the bot book a doctor’s appointment when a user says something like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‘Yeah, book an appointment with Dr. XYZ’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4">
            <a:extLst>
              <a:ext uri="{FF2B5EF4-FFF2-40B4-BE49-F238E27FC236}">
                <a16:creationId xmlns:a16="http://schemas.microsoft.com/office/drawing/2014/main" id="{930B969A-05D6-4D3B-F213-1E4B317B7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5043" y="3393756"/>
            <a:ext cx="136398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Intent recognition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detect the phrase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❌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Limitation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Free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Botpress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tier doesn’t support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external API triggers, webhooks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or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agentic AI actions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🔒 “Always Alive” &amp;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 actions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need a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paid upgrade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6E83D-F4A2-95D6-84A3-779279A49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9B573782-DC66-088C-C974-9274C62DC3A3}"/>
              </a:ext>
            </a:extLst>
          </p:cNvPr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0217FC4-6D1F-7B7D-CC3C-EB5F2E5E956E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913844FB-7986-C2A5-1264-6DD290BE7008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A5194134-3F71-C9DB-2526-4441757E5385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C611238-AFE7-17C4-4166-3ED3F30D99F6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B0914D48-8FFC-B937-75A9-6289932C416E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937356BC-7950-898C-0207-C8F6D7736226}"/>
              </a:ext>
            </a:extLst>
          </p:cNvPr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B3CDC054-AE59-61F7-F5A5-3E3C9B296EDB}"/>
              </a:ext>
            </a:extLst>
          </p:cNvPr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68DFF5F9-3CC4-DB9E-A33E-5ACBA3261FC0}"/>
              </a:ext>
            </a:extLst>
          </p:cNvPr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1687A66-ECE5-AC7B-6924-9BDCEFF51623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B930C9DF-4F8C-A036-DEED-1978F81D2849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D7F79BB-5808-0916-A23B-F5222C950422}"/>
              </a:ext>
            </a:extLst>
          </p:cNvPr>
          <p:cNvSpPr txBox="1"/>
          <p:nvPr/>
        </p:nvSpPr>
        <p:spPr>
          <a:xfrm>
            <a:off x="1828800" y="491795"/>
            <a:ext cx="126367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💡 Recommendation: Use Messaging Platforms like WhatsApp Business or Telegram</a:t>
            </a:r>
            <a:endParaRPr lang="en-IN" sz="3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39988E-042E-5C9A-15E8-C5B3EE0F9587}"/>
              </a:ext>
            </a:extLst>
          </p:cNvPr>
          <p:cNvSpPr txBox="1"/>
          <p:nvPr/>
        </p:nvSpPr>
        <p:spPr>
          <a:xfrm>
            <a:off x="2133600" y="1967014"/>
            <a:ext cx="126367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Ideal workaround for small budgets without rebuilding infrastructure.</a:t>
            </a:r>
            <a:endParaRPr lang="en-IN" sz="2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18BA74-4601-B910-6766-A5F38071F5A6}"/>
              </a:ext>
            </a:extLst>
          </p:cNvPr>
          <p:cNvSpPr txBox="1"/>
          <p:nvPr/>
        </p:nvSpPr>
        <p:spPr>
          <a:xfrm>
            <a:off x="1828800" y="3054720"/>
            <a:ext cx="1263670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✅ WhatsApp Business Integration – Steps</a:t>
            </a:r>
          </a:p>
          <a:p>
            <a:pPr>
              <a:buNone/>
            </a:pPr>
            <a:endParaRPr lang="en-US" sz="3200" b="1" dirty="0"/>
          </a:p>
          <a:p>
            <a:pPr>
              <a:buFont typeface="+mj-lt"/>
              <a:buAutoNum type="arabicPeriod"/>
            </a:pPr>
            <a:r>
              <a:rPr lang="en-US" sz="3200" b="1" dirty="0"/>
              <a:t>Create the chatbot</a:t>
            </a:r>
            <a:r>
              <a:rPr lang="en-US" sz="3200" dirty="0"/>
              <a:t> in </a:t>
            </a:r>
            <a:r>
              <a:rPr lang="en-US" sz="3200" dirty="0" err="1"/>
              <a:t>Botpress</a:t>
            </a:r>
            <a:r>
              <a:rPr lang="en-US" sz="3200" dirty="0"/>
              <a:t> (Done ✅)</a:t>
            </a:r>
          </a:p>
          <a:p>
            <a:pPr>
              <a:buFont typeface="+mj-lt"/>
              <a:buAutoNum type="arabicPeriod"/>
            </a:pPr>
            <a:r>
              <a:rPr lang="en-US" sz="3200" dirty="0"/>
              <a:t>Go to </a:t>
            </a:r>
            <a:r>
              <a:rPr lang="en-US" sz="3200" b="1" dirty="0"/>
              <a:t>Meta Business Suite</a:t>
            </a:r>
            <a:endParaRPr lang="en-US" sz="3200" dirty="0"/>
          </a:p>
          <a:p>
            <a:pPr marL="742950" lvl="1" indent="-285750">
              <a:buFont typeface="+mj-lt"/>
              <a:buAutoNum type="arabicPeriod"/>
            </a:pPr>
            <a:r>
              <a:rPr lang="en-US" sz="3200" dirty="0"/>
              <a:t>Set up </a:t>
            </a:r>
            <a:r>
              <a:rPr lang="en-US" sz="3200" b="1" dirty="0"/>
              <a:t>WhatsApp Business Profile</a:t>
            </a:r>
            <a:endParaRPr lang="en-US" sz="3200" dirty="0"/>
          </a:p>
          <a:p>
            <a:pPr>
              <a:buFont typeface="+mj-lt"/>
              <a:buAutoNum type="arabicPeriod"/>
            </a:pPr>
            <a:r>
              <a:rPr lang="en-US" sz="3200" dirty="0"/>
              <a:t>In </a:t>
            </a:r>
            <a:r>
              <a:rPr lang="en-US" sz="3200" dirty="0" err="1"/>
              <a:t>Botpress</a:t>
            </a:r>
            <a:r>
              <a:rPr lang="en-US" sz="32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3200" b="1" dirty="0"/>
              <a:t>Install WhatsApp Integration</a:t>
            </a:r>
            <a:endParaRPr lang="en-US" sz="3200" dirty="0"/>
          </a:p>
          <a:p>
            <a:pPr marL="742950" lvl="1" indent="-285750">
              <a:buFont typeface="+mj-lt"/>
              <a:buAutoNum type="arabicPeriod"/>
            </a:pPr>
            <a:r>
              <a:rPr lang="en-US" sz="3200" b="1" dirty="0"/>
              <a:t>Authorize using Meta account</a:t>
            </a:r>
            <a:endParaRPr lang="en-US" sz="3200" dirty="0"/>
          </a:p>
          <a:p>
            <a:pPr marL="742950" lvl="1" indent="-285750">
              <a:buFont typeface="+mj-lt"/>
              <a:buAutoNum type="arabicPeriod"/>
            </a:pPr>
            <a:r>
              <a:rPr lang="en-US" sz="3200" dirty="0"/>
              <a:t>Select or create </a:t>
            </a:r>
            <a:r>
              <a:rPr lang="en-US" sz="3200" b="1" dirty="0"/>
              <a:t>WhatsApp Business Account</a:t>
            </a:r>
            <a:endParaRPr lang="en-US" sz="3200" dirty="0"/>
          </a:p>
          <a:p>
            <a:pPr>
              <a:buFont typeface="+mj-lt"/>
              <a:buAutoNum type="arabicPeriod"/>
            </a:pPr>
            <a:r>
              <a:rPr lang="en-US" sz="3200" dirty="0"/>
              <a:t>Save configuration and </a:t>
            </a:r>
            <a:r>
              <a:rPr lang="en-US" sz="3200" b="1" dirty="0"/>
              <a:t>Publish the Bot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527767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90D9E-16AF-4FFE-FEDE-B0E2B29EA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83962DA4-C1AA-31D6-1D56-14F8EFE635D3}"/>
              </a:ext>
            </a:extLst>
          </p:cNvPr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C29E9A6-9015-B670-9769-50ECEDDC91AA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DA20118-F3B8-7BC7-3FB9-EAE0459EB7F3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EF36CAF9-C6C8-DBAF-69BF-21688A444CA2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77A6839-53A9-5554-44BF-39428FD13588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44AAC507-1BA7-064A-18C4-BBCDA1F7FA59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4002F6DE-2C12-EE98-D70B-830F3DB2F2B1}"/>
              </a:ext>
            </a:extLst>
          </p:cNvPr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DA8565B-6B74-178D-AD48-1CD5C1A2F815}"/>
              </a:ext>
            </a:extLst>
          </p:cNvPr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BA9E223-59E9-C55A-90FA-3654775C6FEB}"/>
              </a:ext>
            </a:extLst>
          </p:cNvPr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EE4661F9-FF52-7505-8DF7-A0EC9A25E9C4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A55896D-DC94-4267-28D2-CE82A96BE01D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593CB13-60F5-1D10-25E2-CBBC3FE4F6A4}"/>
              </a:ext>
            </a:extLst>
          </p:cNvPr>
          <p:cNvSpPr txBox="1"/>
          <p:nvPr/>
        </p:nvSpPr>
        <p:spPr>
          <a:xfrm>
            <a:off x="3352800" y="1967014"/>
            <a:ext cx="12636708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✅ Telegram Bot Integration – Steps</a:t>
            </a:r>
          </a:p>
          <a:p>
            <a:pPr>
              <a:buFont typeface="+mj-lt"/>
              <a:buAutoNum type="arabicPeriod"/>
            </a:pPr>
            <a:r>
              <a:rPr lang="en-US" sz="3200" b="1" dirty="0"/>
              <a:t>Create the chatbot</a:t>
            </a:r>
            <a:r>
              <a:rPr lang="en-US" sz="3200" dirty="0"/>
              <a:t> in </a:t>
            </a:r>
            <a:r>
              <a:rPr lang="en-US" sz="3200" dirty="0" err="1"/>
              <a:t>Botpress</a:t>
            </a:r>
            <a:r>
              <a:rPr lang="en-US" sz="3200" dirty="0"/>
              <a:t> (Same as above)</a:t>
            </a:r>
          </a:p>
          <a:p>
            <a:endParaRPr lang="en-US" sz="3200" dirty="0"/>
          </a:p>
          <a:p>
            <a:r>
              <a:rPr lang="en-US" sz="3200" dirty="0"/>
              <a:t>2.Go to Telegram ➜ Search </a:t>
            </a:r>
            <a:r>
              <a:rPr lang="en-US" sz="3200" b="1" dirty="0"/>
              <a:t>@BotFather</a:t>
            </a:r>
            <a:endParaRPr lang="en-US" sz="3200" dirty="0"/>
          </a:p>
          <a:p>
            <a:pPr marL="742950" lvl="1" indent="-285750">
              <a:buFont typeface="+mj-lt"/>
              <a:buAutoNum type="arabicPeriod"/>
            </a:pPr>
            <a:r>
              <a:rPr lang="en-US" sz="3200" dirty="0"/>
              <a:t>Generate a </a:t>
            </a:r>
            <a:r>
              <a:rPr lang="en-US" sz="3200" b="1" dirty="0"/>
              <a:t>Bot Token</a:t>
            </a:r>
          </a:p>
          <a:p>
            <a:pPr lvl="1"/>
            <a:endParaRPr lang="en-US" sz="3200" dirty="0"/>
          </a:p>
          <a:p>
            <a:r>
              <a:rPr lang="en-US" sz="3200" dirty="0"/>
              <a:t>3.In </a:t>
            </a:r>
            <a:r>
              <a:rPr lang="en-US" sz="3200" dirty="0" err="1"/>
              <a:t>Botpress</a:t>
            </a:r>
            <a:r>
              <a:rPr lang="en-US" sz="32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3200" b="1" dirty="0"/>
              <a:t>Install Telegram Integration</a:t>
            </a:r>
            <a:endParaRPr lang="en-US" sz="3200" dirty="0"/>
          </a:p>
          <a:p>
            <a:pPr marL="742950" lvl="1" indent="-285750">
              <a:buFont typeface="+mj-lt"/>
              <a:buAutoNum type="arabicPeriod"/>
            </a:pPr>
            <a:r>
              <a:rPr lang="en-US" sz="3200" b="1" dirty="0"/>
              <a:t>Paste the Token</a:t>
            </a:r>
            <a:r>
              <a:rPr lang="en-US" sz="3200" dirty="0"/>
              <a:t> to authorize</a:t>
            </a:r>
          </a:p>
          <a:p>
            <a:pPr lvl="1"/>
            <a:endParaRPr lang="en-US" sz="3200" dirty="0"/>
          </a:p>
          <a:p>
            <a:r>
              <a:rPr lang="en-US" sz="3200" dirty="0"/>
              <a:t>4.Save configuration and </a:t>
            </a:r>
            <a:r>
              <a:rPr lang="en-US" sz="3200" b="1" dirty="0"/>
              <a:t>Publish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947415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FC4F8-7159-D420-B671-FBDCB8D7D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61497EBA-25E8-6BA1-45A1-554AE003FD12}"/>
              </a:ext>
            </a:extLst>
          </p:cNvPr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7CD7162-8C90-DF4A-695F-47ECB64CB33E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FEB5BF6-5ABC-2A04-0E09-92493F32277D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56C2646C-00F1-908F-072B-E2E2A5CAD6BB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11333A00-64AE-2B2A-7FD1-0FBB883649B5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870760F-9AE4-BAA4-D2A2-DE8D240C4F1C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0D6B90F3-3249-C5F9-67A7-0A2FC4E01E37}"/>
              </a:ext>
            </a:extLst>
          </p:cNvPr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F42C670D-5CC9-8519-9842-C24B2F27FD6A}"/>
              </a:ext>
            </a:extLst>
          </p:cNvPr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7426A901-39D7-272F-7385-724CA9C4AA44}"/>
              </a:ext>
            </a:extLst>
          </p:cNvPr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86DA473E-A236-C181-E0EF-C903F098AD33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F494B71A-4453-B0A8-86D3-67B6902B21E7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DF3D6EA-C3D9-9078-3698-4F5DAB2C5F50}"/>
              </a:ext>
            </a:extLst>
          </p:cNvPr>
          <p:cNvSpPr txBox="1"/>
          <p:nvPr/>
        </p:nvSpPr>
        <p:spPr>
          <a:xfrm>
            <a:off x="1828800" y="876300"/>
            <a:ext cx="126367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📲 Why Use WhatsApp/Telegram?</a:t>
            </a:r>
            <a:endParaRPr lang="en-IN" sz="3200" dirty="0"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6F10DDFE-3CF2-925D-73BF-0949BD883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705100"/>
            <a:ext cx="749756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Users already trust &amp; use these platforms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Free-tier support available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Botpress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supports basic integration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🔎 Conversations are trackable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🚀 Faster rollout with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major infra cost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298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39911-EE36-FB18-8ACE-35D9552F6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0CD7B35B-6143-0E19-2DAB-55E85F5D824D}"/>
              </a:ext>
            </a:extLst>
          </p:cNvPr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41C5B2-8CAB-6C49-1344-013421AAA4DB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D0B649-2529-EEF7-DD36-B76F6F13B04E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1598E984-6B27-75B4-0C28-1F0E6AA43BF5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FD0806C6-D749-CBBC-043C-6F25FE3EED9D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2493AD91-8967-4C21-0E33-BAE294D483E7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F61897DA-C859-E44C-991F-3BF1251E37C0}"/>
              </a:ext>
            </a:extLst>
          </p:cNvPr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5B89D77E-AFC6-C475-3E89-F7AC41632CAA}"/>
              </a:ext>
            </a:extLst>
          </p:cNvPr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E7C54486-9BBE-38BD-4A3D-79EC444A01C2}"/>
              </a:ext>
            </a:extLst>
          </p:cNvPr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B4076D8E-4531-27CB-3C34-5252BD818D5C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0D0B0E02-299F-16E4-C367-3C983283A775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5DFA589-3191-9F6E-8FEB-BFDF2EBA3911}"/>
              </a:ext>
            </a:extLst>
          </p:cNvPr>
          <p:cNvSpPr txBox="1"/>
          <p:nvPr/>
        </p:nvSpPr>
        <p:spPr>
          <a:xfrm>
            <a:off x="1981200" y="647700"/>
            <a:ext cx="126367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📢 Final Message to the Team :</a:t>
            </a:r>
            <a:endParaRPr lang="en-IN" sz="3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7C4DA0-6D17-A015-5C2A-C649A63BFFD4}"/>
              </a:ext>
            </a:extLst>
          </p:cNvPr>
          <p:cNvSpPr txBox="1"/>
          <p:nvPr/>
        </p:nvSpPr>
        <p:spPr>
          <a:xfrm>
            <a:off x="2590800" y="2991372"/>
            <a:ext cx="1263670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If we want </a:t>
            </a:r>
            <a:r>
              <a:rPr lang="en-US" sz="2800" b="1" dirty="0"/>
              <a:t>advanced agentic AI features</a:t>
            </a:r>
            <a:r>
              <a:rPr lang="en-US" sz="2800" dirty="0"/>
              <a:t> (like appointment booking, API triggers, or larger datasets), we’ll need to </a:t>
            </a:r>
            <a:r>
              <a:rPr lang="en-US" sz="2800" b="1" dirty="0"/>
              <a:t>upgrade to </a:t>
            </a:r>
            <a:r>
              <a:rPr lang="en-US" sz="2800" b="1" dirty="0" err="1"/>
              <a:t>Botpress</a:t>
            </a:r>
            <a:r>
              <a:rPr lang="en-US" sz="2800" b="1" dirty="0"/>
              <a:t> Plus or Team Plan.</a:t>
            </a:r>
            <a:endParaRPr lang="en-IN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AE1BAE-F355-AA07-6C51-BA32485F3BBF}"/>
              </a:ext>
            </a:extLst>
          </p:cNvPr>
          <p:cNvSpPr txBox="1"/>
          <p:nvPr/>
        </p:nvSpPr>
        <p:spPr>
          <a:xfrm>
            <a:off x="1569058" y="7035656"/>
            <a:ext cx="126367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Until then, </a:t>
            </a:r>
            <a:r>
              <a:rPr lang="en-US" sz="2800" b="1" dirty="0"/>
              <a:t>WhatsApp or Telegram bots</a:t>
            </a:r>
            <a:r>
              <a:rPr lang="en-US" sz="2800" dirty="0"/>
              <a:t> offer a smart, cost-effective middle ground.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990986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5A9B5-8B7C-2AB0-FDC1-8D115BDEB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16D47BF8-5409-FD1A-59C2-E98C2ADBAEDC}"/>
              </a:ext>
            </a:extLst>
          </p:cNvPr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9B0872-1774-D09A-6178-C456EA277F47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D7E22ED-2F8F-8658-FB7C-1B580783C62B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4A8C842F-DA80-2929-D182-EC54F734A0A7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723E37C6-93E9-5DF8-C78F-E82F6DA3FA23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9D07A6C1-9629-B5B7-B62B-B24D182D8553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92CA1CF2-649C-F4EA-2919-7DB330E089A8}"/>
              </a:ext>
            </a:extLst>
          </p:cNvPr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C4DDA8DA-FA42-7CE5-2855-7809E7554C70}"/>
              </a:ext>
            </a:extLst>
          </p:cNvPr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F2C95F23-DA0F-C50F-3AEF-6E5AFA70C7D5}"/>
              </a:ext>
            </a:extLst>
          </p:cNvPr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EC8D171F-5840-1A4E-54FC-90618065E835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EE4E158B-B5AD-C071-9C5F-FB2797D0639E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056617E-1BB6-7601-60E7-1C1CF90BE8DA}"/>
              </a:ext>
            </a:extLst>
          </p:cNvPr>
          <p:cNvSpPr txBox="1"/>
          <p:nvPr/>
        </p:nvSpPr>
        <p:spPr>
          <a:xfrm>
            <a:off x="1828800" y="723900"/>
            <a:ext cx="126367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🧱 </a:t>
            </a:r>
            <a:r>
              <a:rPr lang="en-US" sz="3200" b="1" dirty="0" err="1"/>
              <a:t>Botpress</a:t>
            </a:r>
            <a:r>
              <a:rPr lang="en-US" sz="3200" b="1" dirty="0"/>
              <a:t>: Free Plan vs Paid Plan</a:t>
            </a:r>
            <a:r>
              <a:rPr lang="en-US" sz="3200" dirty="0"/>
              <a:t> — Feature Comparison</a:t>
            </a:r>
            <a:endParaRPr lang="en-IN" sz="3200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46652AB7-1869-554A-A391-74B75988A3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182422"/>
              </p:ext>
            </p:extLst>
          </p:nvPr>
        </p:nvGraphicFramePr>
        <p:xfrm>
          <a:off x="2819400" y="2054803"/>
          <a:ext cx="10972800" cy="679704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53066057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25125421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666812629"/>
                    </a:ext>
                  </a:extLst>
                </a:gridCol>
              </a:tblGrid>
              <a:tr h="485098">
                <a:tc>
                  <a:txBody>
                    <a:bodyPr/>
                    <a:lstStyle/>
                    <a:p>
                      <a:r>
                        <a:rPr lang="en-IN" sz="2800" b="1" dirty="0"/>
                        <a:t>Feature / Capability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1"/>
                        <a:t>Free Plan</a:t>
                      </a:r>
                      <a:endParaRPr lang="en-IN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1"/>
                        <a:t>Paid Plan (Plus/Team)</a:t>
                      </a:r>
                      <a:endParaRPr lang="en-IN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2528641"/>
                  </a:ext>
                </a:extLst>
              </a:tr>
              <a:tr h="485098">
                <a:tc>
                  <a:txBody>
                    <a:bodyPr/>
                    <a:lstStyle/>
                    <a:p>
                      <a:r>
                        <a:rPr lang="en-IN" sz="2800" dirty="0"/>
                        <a:t>Visual Flow Builder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✅ Available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✅ Available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361777"/>
                  </a:ext>
                </a:extLst>
              </a:tr>
              <a:tr h="873177">
                <a:tc>
                  <a:txBody>
                    <a:bodyPr/>
                    <a:lstStyle/>
                    <a:p>
                      <a:r>
                        <a:rPr lang="en-IN" sz="2800"/>
                        <a:t>Custom Actions &amp; API 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❌ Not Supported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✅ Supported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5538101"/>
                  </a:ext>
                </a:extLst>
              </a:tr>
              <a:tr h="873177">
                <a:tc>
                  <a:txBody>
                    <a:bodyPr/>
                    <a:lstStyle/>
                    <a:p>
                      <a:r>
                        <a:rPr lang="en-IN" sz="2800"/>
                        <a:t>CSV Data Import (e.g., Symptom Analysis)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❌ Limited (Storage Cap)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✅ Higher Limits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386684"/>
                  </a:ext>
                </a:extLst>
              </a:tr>
              <a:tr h="873177">
                <a:tc>
                  <a:txBody>
                    <a:bodyPr/>
                    <a:lstStyle/>
                    <a:p>
                      <a:r>
                        <a:rPr lang="en-US" sz="2800"/>
                        <a:t>Always Alive Bots (24/7 Runtime)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❌ Not Included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✅ Included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0827889"/>
                  </a:ext>
                </a:extLst>
              </a:tr>
              <a:tr h="873177">
                <a:tc>
                  <a:txBody>
                    <a:bodyPr/>
                    <a:lstStyle/>
                    <a:p>
                      <a:r>
                        <a:rPr lang="en-US" sz="2800"/>
                        <a:t>Agentic AI (e.g., Appointment Booking)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❌ Not Possible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✅ Possible with APIs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635280"/>
                  </a:ext>
                </a:extLst>
              </a:tr>
              <a:tr h="485098">
                <a:tc>
                  <a:txBody>
                    <a:bodyPr/>
                    <a:lstStyle/>
                    <a:p>
                      <a:r>
                        <a:rPr lang="en-IN" sz="2800"/>
                        <a:t>Collaborator Seats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❌ Limited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✅ Scalable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1030007"/>
                  </a:ext>
                </a:extLst>
              </a:tr>
              <a:tr h="485098">
                <a:tc>
                  <a:txBody>
                    <a:bodyPr/>
                    <a:lstStyle/>
                    <a:p>
                      <a:r>
                        <a:rPr lang="en-IN" sz="2800"/>
                        <a:t>Branding Removal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❌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✅ 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8425431"/>
                  </a:ext>
                </a:extLst>
              </a:tr>
              <a:tr h="485098">
                <a:tc>
                  <a:txBody>
                    <a:bodyPr/>
                    <a:lstStyle/>
                    <a:p>
                      <a:r>
                        <a:rPr lang="en-IN" sz="2800"/>
                        <a:t>Live Support / Chat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❌ Community 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✅ Live Support Available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585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4272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50481" y="4013348"/>
            <a:ext cx="12387037" cy="2031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41"/>
              </a:lnSpc>
            </a:pPr>
            <a:r>
              <a:rPr lang="en-US" sz="11886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THANK YOU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465</Words>
  <Application>Microsoft Office PowerPoint</Application>
  <PresentationFormat>Custom</PresentationFormat>
  <Paragraphs>84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Century Gothic Paneuropean Bold</vt:lpstr>
      <vt:lpstr>Arial</vt:lpstr>
      <vt:lpstr>Century Gothic Paneuropean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Ganesh Agrahari</cp:lastModifiedBy>
  <cp:revision>2</cp:revision>
  <dcterms:created xsi:type="dcterms:W3CDTF">2006-08-16T00:00:00Z</dcterms:created>
  <dcterms:modified xsi:type="dcterms:W3CDTF">2025-05-01T09:31:44Z</dcterms:modified>
  <dc:identifier>DAGmCGGGdro</dc:identifier>
</cp:coreProperties>
</file>